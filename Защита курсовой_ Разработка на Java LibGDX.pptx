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Inter" panose="020B0604020202020204" charset="0"/>
      <p:regular r:id="rId14"/>
      <p:bold r:id="rId15"/>
      <p:italic r:id="rId16"/>
      <p:boldItalic r:id="rId17"/>
    </p:embeddedFont>
    <p:embeddedFont>
      <p:font typeface="Inter SemiBold" panose="020B0604020202020204" charset="0"/>
      <p:regular r:id="rId18"/>
      <p:bold r:id="rId19"/>
      <p:italic r:id="rId20"/>
      <p:boldItalic r:id="rId21"/>
    </p:embeddedFont>
    <p:embeddedFont>
      <p:font typeface="JetBrains Mono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5a1cdb520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g3e5a1cdb520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47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1800" y="3837682"/>
            <a:ext cx="6248400" cy="1411337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38700" y="1608980"/>
            <a:ext cx="2514600" cy="24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ЗАЩИТА КУРСОВОЙ РАБОТЫ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742955" y="1948011"/>
            <a:ext cx="8706000" cy="6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Разработка приложения «Ballz»</a:t>
            </a:r>
            <a:endParaRPr sz="1300"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2704207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Создание кроссплатформенного игрового приложения по дисциплине «Программная инженерия» на базе языка Java и фреймворка LibGDX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62325" y="4075807"/>
            <a:ext cx="54673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Выполнил студент: </a:t>
            </a: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Кибирев В. Р. (гр. АУБП-24)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362325" y="4410967"/>
            <a:ext cx="5467350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Руководитель: </a:t>
            </a: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Волкова Е. А.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362325" y="4812803"/>
            <a:ext cx="5467350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Уральский государственный горный университет (УГГУ), Кафедра информатики, 2026 г.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955601"/>
            <a:ext cx="5143500" cy="3718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955601"/>
            <a:ext cx="5143500" cy="3718321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104900" y="2298501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Суть игры «Ballz»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104900" y="2689026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04900" y="2850951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Игровое поле представляет собой сетку, на которой сверху динамически появляются блоки-препятствия с определенным запасом прочности (жизней).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104900" y="4214812"/>
            <a:ext cx="4457700" cy="12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Задача игрока — запускать цепочку шаров под углом с целью полного уничтожения блоков до того, как они достигнут критической нижней линии пола.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629400" y="2298501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Инженерные требования</a:t>
            </a:r>
            <a:endParaRPr/>
          </a:p>
        </p:txBody>
      </p:sp>
      <p:sp>
        <p:nvSpPr>
          <p:cNvPr id="104" name="Google Shape;104;p14"/>
          <p:cNvSpPr/>
          <p:nvPr/>
        </p:nvSpPr>
        <p:spPr>
          <a:xfrm>
            <a:off x="6629400" y="2689026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6629400" y="2850951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Проектирование и математическое описание надежного физического движка столкновения снарядов без проваливания сквозь текстуры стен и блоков.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29400" y="4214812"/>
            <a:ext cx="44577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Реализация алгоритмов автогенерации уровней, системы сбора бонусов увеличения пула шаров и интуитивно понятного интерфейса.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ПОСТАНОВКА ЗАДАЧИ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057275" y="2867244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Язык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Java</a:t>
            </a:r>
            <a:endParaRPr dirty="0"/>
          </a:p>
        </p:txBody>
      </p:sp>
      <p:sp>
        <p:nvSpPr>
          <p:cNvPr id="118" name="Google Shape;118;p15"/>
          <p:cNvSpPr txBox="1"/>
          <p:nvPr/>
        </p:nvSpPr>
        <p:spPr>
          <a:xfrm>
            <a:off x="1057274" y="3266182"/>
            <a:ext cx="2806749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Объектно-ориентированный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подход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строгая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типизация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независимость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байт-кода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от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архитектуры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благодаря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JVM.</a:t>
            </a:r>
            <a:endParaRPr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4692699" y="2868066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Фреймворк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LibGDX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4692625" y="3271572"/>
            <a:ext cx="280674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Низкоуровневый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доступ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 OpenGL,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кроссплатформенная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абстракция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файловой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системы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ввода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высокая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производительность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рендеринга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21" name="Google Shape;121;p15"/>
          <p:cNvSpPr txBox="1"/>
          <p:nvPr/>
        </p:nvSpPr>
        <p:spPr>
          <a:xfrm>
            <a:off x="8328124" y="2867244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IntelliJ IDEA CE</a:t>
            </a:r>
            <a:endParaRPr dirty="0"/>
          </a:p>
        </p:txBody>
      </p:sp>
      <p:sp>
        <p:nvSpPr>
          <p:cNvPr id="122" name="Google Shape;122;p15"/>
          <p:cNvSpPr txBox="1"/>
          <p:nvPr/>
        </p:nvSpPr>
        <p:spPr>
          <a:xfrm>
            <a:off x="8327977" y="3266182"/>
            <a:ext cx="280674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Интегрированная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среда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разработки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поддерживающая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удобный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рефакторинг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профилирование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памяти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автогенерацию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кода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лету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317477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24417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31747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ВЫБОР СРЕДСТВ РЕАЛИЗАЦИИ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58454"/>
            <a:ext cx="5143500" cy="3312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58454"/>
            <a:ext cx="5143500" cy="331261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104900" y="2501354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Паттерн проектирования MVC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1104900" y="2891879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 txBox="1"/>
          <p:nvPr/>
        </p:nvSpPr>
        <p:spPr>
          <a:xfrm>
            <a:off x="1104900" y="305380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Логика работы приложения полностью отделена от его графического представления, что обеспечивает масштабируемость системы: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04900" y="416242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Model &amp; View: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Классы игровых сущностей ProjectileBall, EnemySquare, Bonus и экраны StartingScreen, GameScreen.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629400" y="2501354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Ядро управления (Controller)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6629400" y="2891879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629400" y="305380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Центральный класс GameController управляет игровыми фазами, обрабатывает математические пересечения хитбоксов в игровом цикле.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629400" y="416242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Для взаимодействия между компонентами ядра используется изолированный интерфейс событий GameEventListener.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АРХИТЕКТУРА ПРИЛОЖЕНИЯ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762000" y="2729954"/>
            <a:ext cx="51435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Основой симуляции является непрерывное обновление координат объектов и проверка условий на каждом кадре внутри метода update():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65947" y="3752662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 dirty="0"/>
          </a:p>
        </p:txBody>
      </p:sp>
      <p:sp>
        <p:nvSpPr>
          <p:cNvPr id="152" name="Google Shape;152;p17"/>
          <p:cNvSpPr txBox="1"/>
          <p:nvPr/>
        </p:nvSpPr>
        <p:spPr>
          <a:xfrm>
            <a:off x="952500" y="369570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Контроль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фаз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запуска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снарядов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и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таймеров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153" name="Google Shape;153;p17"/>
          <p:cNvSpPr txBox="1"/>
          <p:nvPr/>
        </p:nvSpPr>
        <p:spPr>
          <a:xfrm>
            <a:off x="865947" y="4152841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 dirty="0"/>
          </a:p>
        </p:txBody>
      </p:sp>
      <p:sp>
        <p:nvSpPr>
          <p:cNvPr id="154" name="Google Shape;154;p17"/>
          <p:cNvSpPr txBox="1"/>
          <p:nvPr/>
        </p:nvSpPr>
        <p:spPr>
          <a:xfrm>
            <a:off x="952500" y="408429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Фильтрация и удаление уничтоженных блоков.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4553020"/>
            <a:ext cx="571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▪</a:t>
            </a:r>
            <a:endParaRPr dirty="0"/>
          </a:p>
        </p:txBody>
      </p:sp>
      <p:sp>
        <p:nvSpPr>
          <p:cNvPr id="156" name="Google Shape;156;p17"/>
          <p:cNvSpPr txBox="1"/>
          <p:nvPr/>
        </p:nvSpPr>
        <p:spPr>
          <a:xfrm>
            <a:off x="952500" y="4472880"/>
            <a:ext cx="4953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1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Выявление завершения текущего хода игрока.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ИГРОВОЙ ЦИКЛ (UPDATE)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96775" y="2803775"/>
            <a:ext cx="4269474" cy="189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276975" y="2798363"/>
            <a:ext cx="3603600" cy="19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472B6"/>
                </a:solidFill>
              </a:rPr>
              <a:t>public void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rgbClr val="4ADE80"/>
                </a:solidFill>
              </a:rPr>
              <a:t>update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472B6"/>
                </a:solidFill>
              </a:rPr>
              <a:t>float</a:t>
            </a:r>
            <a:r>
              <a:rPr lang="en-US">
                <a:solidFill>
                  <a:schemeClr val="lt1"/>
                </a:solidFill>
              </a:rPr>
              <a:t> </a:t>
            </a:r>
            <a:r>
              <a:rPr lang="en-US">
                <a:solidFill>
                  <a:srgbClr val="FBBF24"/>
                </a:solidFill>
              </a:rPr>
              <a:t>delta</a:t>
            </a:r>
            <a:r>
              <a:rPr lang="en-US">
                <a:solidFill>
                  <a:schemeClr val="lt1"/>
                </a:solidFill>
              </a:rPr>
              <a:t>) {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    </a:t>
            </a:r>
            <a:r>
              <a:rPr lang="en-US">
                <a:solidFill>
                  <a:srgbClr val="F472B6"/>
                </a:solidFill>
              </a:rPr>
              <a:t>if 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BBF24"/>
                </a:solidFill>
              </a:rPr>
              <a:t>state</a:t>
            </a:r>
            <a:r>
              <a:rPr lang="en-US">
                <a:solidFill>
                  <a:schemeClr val="lt1"/>
                </a:solidFill>
              </a:rPr>
              <a:t> != State.PLAYING) </a:t>
            </a:r>
            <a:r>
              <a:rPr lang="en-US">
                <a:solidFill>
                  <a:srgbClr val="F472B6"/>
                </a:solidFill>
              </a:rPr>
              <a:t>return</a:t>
            </a:r>
            <a:r>
              <a:rPr lang="en-US">
                <a:solidFill>
                  <a:schemeClr val="lt1"/>
                </a:solidFill>
              </a:rPr>
              <a:t>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handleSpawning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BBF24"/>
                </a:solidFill>
              </a:rPr>
              <a:t>delta</a:t>
            </a:r>
            <a:r>
              <a:rPr lang="en-US">
                <a:solidFill>
                  <a:schemeClr val="lt1"/>
                </a:solidFill>
              </a:rPr>
              <a:t>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updateBalls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BBF24"/>
                </a:solidFill>
              </a:rPr>
              <a:t>delta</a:t>
            </a:r>
            <a:r>
              <a:rPr lang="en-US">
                <a:solidFill>
                  <a:schemeClr val="lt1"/>
                </a:solidFill>
              </a:rPr>
              <a:t>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updateEntities</a:t>
            </a:r>
            <a:r>
              <a:rPr lang="en-US">
                <a:solidFill>
                  <a:schemeClr val="lt1"/>
                </a:solidFill>
              </a:rPr>
              <a:t>(</a:t>
            </a:r>
            <a:r>
              <a:rPr lang="en-US">
                <a:solidFill>
                  <a:srgbClr val="FBBF24"/>
                </a:solidFill>
              </a:rPr>
              <a:t>delta</a:t>
            </a:r>
            <a:r>
              <a:rPr lang="en-US">
                <a:solidFill>
                  <a:schemeClr val="lt1"/>
                </a:solidFill>
              </a:rPr>
              <a:t>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removeDeadEnemies</a:t>
            </a:r>
            <a:r>
              <a:rPr lang="en-US">
                <a:solidFill>
                  <a:schemeClr val="lt1"/>
                </a:solidFill>
              </a:rPr>
              <a:t>();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r>
              <a:rPr lang="en-US">
                <a:solidFill>
                  <a:srgbClr val="4ADE80"/>
                </a:solidFill>
              </a:rPr>
              <a:t>checkTurnEnd</a:t>
            </a:r>
            <a:r>
              <a:rPr lang="en-US">
                <a:solidFill>
                  <a:schemeClr val="lt1"/>
                </a:solidFill>
              </a:rPr>
              <a:t>();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}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58454"/>
            <a:ext cx="5143500" cy="3312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58454"/>
            <a:ext cx="5143500" cy="331261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>
            <a:off x="1104900" y="2501354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Регистрация точки сбора</a:t>
            </a: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104900" y="2891879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1104900" y="3053804"/>
            <a:ext cx="44577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Когда координата шара опускается ниже константы FLOOR_Y, срабатывает разветвление логики: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1104900" y="388813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Если этот шар возвращается первым в текущем ходу, то он фиксирует общую координату сбора (nextStartPos) и ждет на месте.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629400" y="2501354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Возврат последующих шаров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6629400" y="2891879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 txBox="1"/>
          <p:nvPr/>
        </p:nvSpPr>
        <p:spPr>
          <a:xfrm>
            <a:off x="6629400" y="3053804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Все остальные шары, достигающие пола позже, переходят в состояние автоматического притягивания к новой точке.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29400" y="4162425"/>
            <a:ext cx="44577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Это исключает хаотичное застревание снарядов на поле и формирует единую стартовую позицию для следующего залпа.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ФИЗИКА ПАДЕНИЯ СНАРЯДОВ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414908"/>
            <a:ext cx="5143500" cy="4847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414908"/>
            <a:ext cx="5143500" cy="484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1104900" y="1757808"/>
            <a:ext cx="468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Шаблонный спавн (из JSON)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1104900" y="2148333"/>
            <a:ext cx="44577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1104900" y="2338833"/>
            <a:ext cx="44577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Метод spawnFromTemplate() срабатывает, когда на вход подан предустановленный сценарий уровня: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29400" y="1757808"/>
            <a:ext cx="4680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0F2FE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Случайный спавн (Random)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6629400" y="2148333"/>
            <a:ext cx="4457700" cy="1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6629400" y="2338833"/>
            <a:ext cx="44577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Метод spawnRandomRow() активируется по умолчанию, если готовый шаблон уровня отсутствует в файлах: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390650" y="3030289"/>
            <a:ext cx="4172100" cy="49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Парсинг файлов: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Класс TemplateManager десериализует внешние JSON-конфигурации.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390650" y="3658939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Матричная сетка: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Программа проверяет ячейки в массиве GridSlot[][] и спавнит точно указанные объекты.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390650" y="4530476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Строгий баланс: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Конкретные типы блоков, бонусы и пустые ячейки жестко фиксируются в коде уровня.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6915150" y="3304579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Перемешивание колонок: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Список свободных мест динамически перемешивается через columns.shuffle().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6915150" y="4176117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Вероятностный спавн: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С фиксированным шансом в 30% в первой выбранной колонке генерируется бонус.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915150" y="5047654"/>
            <a:ext cx="4172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Динамическая прочность:</a:t>
            </a:r>
            <a:r>
              <a:rPr lang="en-US" sz="1275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Здоровье блоков на поле рассчитывается по формуле в зависимости от текущего счета игрока.</a:t>
            </a:r>
            <a:endParaRPr/>
          </a:p>
        </p:txBody>
      </p:sp>
      <p:pic>
        <p:nvPicPr>
          <p:cNvPr id="197" name="Google Shape;19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62050" y="3116636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3950" y="3756333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3000" y="4607744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677025" y="34051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91312" y="4245452"/>
            <a:ext cx="1238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693797" y="5162876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904875" y="571500"/>
            <a:ext cx="110514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0F2FE"/>
                </a:solidFill>
                <a:latin typeface="Inter"/>
                <a:ea typeface="Inter"/>
                <a:cs typeface="Inter"/>
                <a:sym typeface="Inter"/>
              </a:rPr>
              <a:t>ГЕНЕРАЦИЯ НОВОГО РЯДА</a:t>
            </a:r>
            <a:endParaRPr/>
          </a:p>
        </p:txBody>
      </p:sp>
      <p:sp>
        <p:nvSpPr>
          <p:cNvPr id="204" name="Google Shape;204;p19"/>
          <p:cNvSpPr/>
          <p:nvPr/>
        </p:nvSpPr>
        <p:spPr>
          <a:xfrm>
            <a:off x="762000" y="571500"/>
            <a:ext cx="38100" cy="43830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97424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32849" y="2101304"/>
            <a:ext cx="3397299" cy="342691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1057274" y="2898936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Сетка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7х12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единиц</a:t>
            </a:r>
            <a:endParaRPr dirty="0"/>
          </a:p>
        </p:txBody>
      </p:sp>
      <p:sp>
        <p:nvSpPr>
          <p:cNvPr id="214" name="Google Shape;214;p20"/>
          <p:cNvSpPr txBox="1"/>
          <p:nvPr/>
        </p:nvSpPr>
        <p:spPr>
          <a:xfrm>
            <a:off x="1057274" y="3342031"/>
            <a:ext cx="2806749" cy="1645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Виртуальный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экран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строго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зафиксирован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фреймворком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LibGDX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Это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блокирует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случайные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искажения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игровых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пропорций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сворачивании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окон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sp>
        <p:nvSpPr>
          <p:cNvPr id="215" name="Google Shape;215;p20"/>
          <p:cNvSpPr txBox="1"/>
          <p:nvPr/>
        </p:nvSpPr>
        <p:spPr>
          <a:xfrm>
            <a:off x="4692699" y="2903894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Панель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информации</a:t>
            </a:r>
            <a:endParaRPr dirty="0"/>
          </a:p>
        </p:txBody>
      </p:sp>
      <p:sp>
        <p:nvSpPr>
          <p:cNvPr id="216" name="Google Shape;216;p20"/>
          <p:cNvSpPr txBox="1"/>
          <p:nvPr/>
        </p:nvSpPr>
        <p:spPr>
          <a:xfrm>
            <a:off x="4692699" y="3347421"/>
            <a:ext cx="280674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верхнем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оверлее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постоянно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выводятся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текущий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счет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игровой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сессии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(«Score») и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наилучший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зафиксированный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рекорд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(«Best»).</a:t>
            </a:r>
            <a:endParaRPr dirty="0"/>
          </a:p>
        </p:txBody>
      </p:sp>
      <p:sp>
        <p:nvSpPr>
          <p:cNvPr id="217" name="Google Shape;217;p20"/>
          <p:cNvSpPr txBox="1"/>
          <p:nvPr/>
        </p:nvSpPr>
        <p:spPr>
          <a:xfrm>
            <a:off x="8328124" y="2904729"/>
            <a:ext cx="29470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GameOver</a:t>
            </a:r>
            <a:r>
              <a:rPr lang="en-US" sz="1800" b="0" i="0" u="none" strike="noStrike" cap="none" dirty="0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lang="en-US" sz="1800" b="0" i="0" u="none" strike="noStrike" cap="none" dirty="0" err="1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Экран</a:t>
            </a:r>
            <a:endParaRPr dirty="0"/>
          </a:p>
        </p:txBody>
      </p:sp>
      <p:sp>
        <p:nvSpPr>
          <p:cNvPr id="218" name="Google Shape;218;p20"/>
          <p:cNvSpPr txBox="1"/>
          <p:nvPr/>
        </p:nvSpPr>
        <p:spPr>
          <a:xfrm>
            <a:off x="8328124" y="3347421"/>
            <a:ext cx="2806749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пересечении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линии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пола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блоками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активируется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интерфейсный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класс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GameOverGroup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предоставляющий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функции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рестарта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  <p:pic>
        <p:nvPicPr>
          <p:cNvPr id="219" name="Google Shape;21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7275" y="231209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92699" y="2312099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28124" y="231747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ИНТЕРФЕЙС ПРИЛОЖЕНИЯ</a:t>
            </a:r>
            <a:endParaRPr/>
          </a:p>
        </p:txBody>
      </p:sp>
      <p:sp>
        <p:nvSpPr>
          <p:cNvPr id="223" name="Google Shape;223;p20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75619"/>
            <a:ext cx="5143500" cy="2478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75619"/>
            <a:ext cx="5143500" cy="247828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 txBox="1"/>
          <p:nvPr/>
        </p:nvSpPr>
        <p:spPr>
          <a:xfrm>
            <a:off x="1104900" y="2918519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Редактор уровней EditorLogic</a:t>
            </a:r>
            <a:endParaRPr/>
          </a:p>
        </p:txBody>
      </p:sp>
      <p:sp>
        <p:nvSpPr>
          <p:cNvPr id="232" name="Google Shape;232;p21"/>
          <p:cNvSpPr/>
          <p:nvPr/>
        </p:nvSpPr>
        <p:spPr>
          <a:xfrm>
            <a:off x="1104900" y="3309044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1104900" y="3470969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Вспомогательный режим разработки позволяет вручную выстраивать блоки на интерактивной сетке и сериализовать кастомные уровни в JSON через модуль TemplateManager.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629400" y="2918519"/>
            <a:ext cx="46805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Автоигра AIPredictor</a:t>
            </a:r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6629400" y="3309044"/>
            <a:ext cx="44577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6629400" y="3470969"/>
            <a:ext cx="44577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Встроенный бот симулирует виртуальные выстрелы в широком диапазоне углов, анализирует потенциальные отскоки и коллизии, выбирая оптимальный вектор максимального урона.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РЕДАКТОР И ИСКУССТВЕННЫЙ ИНТЕЛЛЕКТ</a:t>
            </a:r>
            <a:endParaRPr/>
          </a:p>
        </p:txBody>
      </p:sp>
      <p:sp>
        <p:nvSpPr>
          <p:cNvPr id="238" name="Google Shape;238;p21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045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24125"/>
            <a:ext cx="4267200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1057275" y="3009900"/>
            <a:ext cx="36766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0" b="1" i="0" u="none" strike="noStrike" cap="none" dirty="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50</a:t>
            </a:r>
            <a:endParaRPr dirty="0"/>
          </a:p>
        </p:txBody>
      </p:sp>
      <p:sp>
        <p:nvSpPr>
          <p:cNvPr id="246" name="Google Shape;246;p22"/>
          <p:cNvSpPr txBox="1"/>
          <p:nvPr/>
        </p:nvSpPr>
        <p:spPr>
          <a:xfrm>
            <a:off x="1057275" y="4391025"/>
            <a:ext cx="3676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JUNIT ТЕСТОВ ПРОЙДЕНО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5505450" y="2709862"/>
            <a:ext cx="66865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1F5F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Стабильность и надежность кода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5505450" y="3100387"/>
            <a:ext cx="6400800" cy="548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Проект снабжен полным комплексом автоматизированных юнит-тестов (JUnit 5 + Mockito), изолирующих бизнес-логику от графики: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5505450" y="3791842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GameControllerTest: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Проверка смены состояний.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5505450" y="4142333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AIPredictorTest: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Проверка точности прогноза бота.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5505450" y="4492823"/>
            <a:ext cx="64008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476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EnemySquareTest: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Проверка триггера жизни блоков.</a:t>
            </a:r>
            <a:endParaRPr/>
          </a:p>
        </p:txBody>
      </p:sp>
      <p:pic>
        <p:nvPicPr>
          <p:cNvPr id="252" name="Google Shape;25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5450" y="388637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5450" y="424815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5450" y="458613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933450" y="571500"/>
            <a:ext cx="11021377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ТЕСТИРОВАНИЕ СИСТЕМЫ</a:t>
            </a: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762000" y="571500"/>
            <a:ext cx="47625" cy="438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9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3"/>
          <p:cNvSpPr txBox="1"/>
          <p:nvPr/>
        </p:nvSpPr>
        <p:spPr>
          <a:xfrm>
            <a:off x="495300" y="571500"/>
            <a:ext cx="11201400" cy="82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Вопросы и ответы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762000" y="1590675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Благодарю за внимание! Готов ответить на ваши вопросы.</a:t>
            </a:r>
            <a:endParaRPr/>
          </a:p>
        </p:txBody>
      </p:sp>
      <p:pic>
        <p:nvPicPr>
          <p:cNvPr id="264" name="Google Shape;26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47912" y="2518320"/>
            <a:ext cx="2381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10287" y="2518320"/>
            <a:ext cx="171450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731</Words>
  <Application>Microsoft Office PowerPoint</Application>
  <PresentationFormat>Широкоэкранный</PresentationFormat>
  <Paragraphs>83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JetBrains Mono</vt:lpstr>
      <vt:lpstr>Calibri</vt:lpstr>
      <vt:lpstr>Inter</vt:lpstr>
      <vt:lpstr>Inter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Lumi</cp:lastModifiedBy>
  <cp:revision>1</cp:revision>
  <dcterms:modified xsi:type="dcterms:W3CDTF">2026-05-30T08:22:18Z</dcterms:modified>
</cp:coreProperties>
</file>