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SemiBold" panose="020B0604020202020204" charset="0"/>
      <p:regular r:id="rId18"/>
      <p:bold r:id="rId19"/>
      <p:italic r:id="rId20"/>
      <p:boldItalic r:id="rId21"/>
    </p:embeddedFont>
    <p:embeddedFont>
      <p:font typeface="JetBrains Mono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5a1cdb52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e5a1cdb52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94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71800" y="3837682"/>
            <a:ext cx="6248400" cy="141133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838700" y="1608980"/>
            <a:ext cx="25146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ЗАЩИТА КУРСОВОЙ РАБОТЫ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742955" y="1948011"/>
            <a:ext cx="87060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Разработка приложения «Ballz»</a:t>
            </a:r>
            <a:endParaRPr sz="1300"/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2704207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Создание кроссплатформенного игрового приложения по дисциплине «Программная инженерия» на базе языка Java и фреймворка LibGDX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362325" y="4075807"/>
            <a:ext cx="546735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Выполнил студент: </a:t>
            </a:r>
            <a:r>
              <a:rPr lang="en-US" sz="1275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Кибирев В. Р. (гр. АУБП-24)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362325" y="4410967"/>
            <a:ext cx="546735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Руководитель: </a:t>
            </a:r>
            <a:r>
              <a:rPr lang="en-US" sz="1275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Волкова Е. А.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362325" y="4812803"/>
            <a:ext cx="54673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Уральский государственный горный университет (УГГУ), Кафедра информатики, 2026 г.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955601"/>
            <a:ext cx="5143500" cy="3718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55601"/>
            <a:ext cx="5143500" cy="371832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104900" y="2298501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Суть игры «Ballz»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104900" y="2689026"/>
            <a:ext cx="4457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104900" y="2850951"/>
            <a:ext cx="44577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Игровое поле представляет собой сетку, на которой сверху динамически появляются блоки-препятствия с определенным запасом прочности (жизней).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04900" y="4214812"/>
            <a:ext cx="44577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Задача игрока — запускать цепочку шаров под углом с целью полного уничтожения блоков до того, как они достигнут критической нижней линии пола.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29400" y="2298501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Инженерные требования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629400" y="2689026"/>
            <a:ext cx="4457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629400" y="2850951"/>
            <a:ext cx="44577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Проектирование и математическое описание надежного физического движка столкновения снарядов без проваливания сквозь текстуры стен и блоков.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29400" y="4214812"/>
            <a:ext cx="44577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Реализация алгоритмов автогенерации уровней, системы сбора бонусов увеличения пула шаров и интуитивно понятного интерфейса.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33450" y="571500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ПОСТАНОВКА ЗАДАЧИ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62000" y="571500"/>
            <a:ext cx="47625" cy="438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01304"/>
            <a:ext cx="3397299" cy="3426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424" y="2101304"/>
            <a:ext cx="3397299" cy="3426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2101304"/>
            <a:ext cx="3397299" cy="342691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057275" y="2867244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Язык</a:t>
            </a:r>
            <a:r>
              <a:rPr lang="en-US" sz="1800" b="0" i="0" u="none" strike="noStrike" cap="none" dirty="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Java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1057274" y="3266182"/>
            <a:ext cx="28067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Объектно-ориентированный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подход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строгая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типизация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независимость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байт-кода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от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архитектуры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благодаря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JVM.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4692699" y="2868066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Фреймворк</a:t>
            </a:r>
            <a:r>
              <a:rPr lang="en-US" sz="1800" b="0" i="0" u="none" strike="noStrike" cap="none" dirty="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LibGDX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4692625" y="3271572"/>
            <a:ext cx="2806749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Низкоуровневый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доступ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к OpenGL,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кроссплатформенная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абстракция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файловой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системы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ввода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высокая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производительность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рендеринга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8328124" y="2867244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IntelliJ IDEA CE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8327977" y="3266182"/>
            <a:ext cx="2806749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Интегрированная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среда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разработки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поддерживающая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удобный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рефакторинг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профилирование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памяти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автогенерацию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кода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лету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31747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25" y="231747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8124" y="231747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33450" y="571500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ВЫБОР СРЕДСТВ РЕАЛИЗАЦИИ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762000" y="571500"/>
            <a:ext cx="47625" cy="438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58454"/>
            <a:ext cx="5143500" cy="3312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58454"/>
            <a:ext cx="5143500" cy="331261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104900" y="2501354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Паттерн проектирования MVC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1104900" y="2891879"/>
            <a:ext cx="4457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1104900" y="3053804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Логика работы приложения полностью отделена от его графического представления, что обеспечивает масштабируемость системы: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104900" y="4162425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 &amp; View: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Классы игровых сущностей ProjectileBall, EnemySquare, Bonus и экраны StartingScreen, GameScreen.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29400" y="2501354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Ядро управления (Controller)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6629400" y="2891879"/>
            <a:ext cx="4457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6629400" y="3053804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Центральный класс GameController управляет игровыми фазами, обрабатывает математические пересечения хитбоксов в игровом цикле.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629400" y="4162425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Для взаимодействия между компонентами ядра используется изолированный интерфейс событий GameEventListener.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33450" y="571500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АРХИТЕКТУРА ПРИЛОЖЕНИЯ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762000" y="571500"/>
            <a:ext cx="47625" cy="438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762000" y="2729954"/>
            <a:ext cx="51435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Основой симуляции является непрерывное обновление координат объектов и проверка условий на каждом кадре внутри метода update():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65947" y="375266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952500" y="3695700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Контроль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фаз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запуска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снарядов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таймеров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865947" y="415284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952500" y="4084290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Фильтрация и удаление уничтоженных блоков.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66775" y="455302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 dirty="0"/>
          </a:p>
        </p:txBody>
      </p:sp>
      <p:sp>
        <p:nvSpPr>
          <p:cNvPr id="156" name="Google Shape;156;p17"/>
          <p:cNvSpPr txBox="1"/>
          <p:nvPr/>
        </p:nvSpPr>
        <p:spPr>
          <a:xfrm>
            <a:off x="952500" y="4472880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Выявление завершения текущего хода игрока.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33450" y="571500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ИГРОВОЙ ЦИКЛ (UPDATE)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762000" y="571500"/>
            <a:ext cx="47625" cy="438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96775" y="2803775"/>
            <a:ext cx="4269474" cy="189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7276975" y="2798363"/>
            <a:ext cx="36036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472B6"/>
                </a:solidFill>
              </a:rPr>
              <a:t>public void</a:t>
            </a:r>
            <a:r>
              <a:rPr lang="en-US">
                <a:solidFill>
                  <a:schemeClr val="lt1"/>
                </a:solidFill>
              </a:rPr>
              <a:t> </a:t>
            </a:r>
            <a:r>
              <a:rPr lang="en-US">
                <a:solidFill>
                  <a:srgbClr val="4ADE80"/>
                </a:solidFill>
              </a:rPr>
              <a:t>update</a:t>
            </a:r>
            <a:r>
              <a:rPr lang="en-US">
                <a:solidFill>
                  <a:schemeClr val="lt1"/>
                </a:solidFill>
              </a:rPr>
              <a:t>(</a:t>
            </a:r>
            <a:r>
              <a:rPr lang="en-US">
                <a:solidFill>
                  <a:srgbClr val="F472B6"/>
                </a:solidFill>
              </a:rPr>
              <a:t>float</a:t>
            </a:r>
            <a:r>
              <a:rPr lang="en-US">
                <a:solidFill>
                  <a:schemeClr val="lt1"/>
                </a:solidFill>
              </a:rPr>
              <a:t> </a:t>
            </a:r>
            <a:r>
              <a:rPr lang="en-US">
                <a:solidFill>
                  <a:srgbClr val="FBBF24"/>
                </a:solidFill>
              </a:rPr>
              <a:t>delta</a:t>
            </a:r>
            <a:r>
              <a:rPr lang="en-US">
                <a:solidFill>
                  <a:schemeClr val="lt1"/>
                </a:solidFill>
              </a:rPr>
              <a:t>) {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</a:t>
            </a:r>
            <a:r>
              <a:rPr lang="en-US">
                <a:solidFill>
                  <a:srgbClr val="F472B6"/>
                </a:solidFill>
              </a:rPr>
              <a:t>if </a:t>
            </a:r>
            <a:r>
              <a:rPr lang="en-US">
                <a:solidFill>
                  <a:schemeClr val="lt1"/>
                </a:solidFill>
              </a:rPr>
              <a:t>(</a:t>
            </a:r>
            <a:r>
              <a:rPr lang="en-US">
                <a:solidFill>
                  <a:srgbClr val="FBBF24"/>
                </a:solidFill>
              </a:rPr>
              <a:t>state</a:t>
            </a:r>
            <a:r>
              <a:rPr lang="en-US">
                <a:solidFill>
                  <a:schemeClr val="lt1"/>
                </a:solidFill>
              </a:rPr>
              <a:t> != State.PLAYING) </a:t>
            </a:r>
            <a:r>
              <a:rPr lang="en-US">
                <a:solidFill>
                  <a:srgbClr val="F472B6"/>
                </a:solidFill>
              </a:rPr>
              <a:t>return</a:t>
            </a:r>
            <a:r>
              <a:rPr lang="en-US">
                <a:solidFill>
                  <a:schemeClr val="lt1"/>
                </a:solidFill>
              </a:rPr>
              <a:t>;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lang="en-US">
                <a:solidFill>
                  <a:srgbClr val="4ADE80"/>
                </a:solidFill>
              </a:rPr>
              <a:t>handleSpawning</a:t>
            </a:r>
            <a:r>
              <a:rPr lang="en-US">
                <a:solidFill>
                  <a:schemeClr val="lt1"/>
                </a:solidFill>
              </a:rPr>
              <a:t>(</a:t>
            </a:r>
            <a:r>
              <a:rPr lang="en-US">
                <a:solidFill>
                  <a:srgbClr val="FBBF24"/>
                </a:solidFill>
              </a:rPr>
              <a:t>delta</a:t>
            </a:r>
            <a:r>
              <a:rPr lang="en-US">
                <a:solidFill>
                  <a:schemeClr val="lt1"/>
                </a:solidFill>
              </a:rPr>
              <a:t>);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lang="en-US">
                <a:solidFill>
                  <a:srgbClr val="4ADE80"/>
                </a:solidFill>
              </a:rPr>
              <a:t>updateBalls</a:t>
            </a:r>
            <a:r>
              <a:rPr lang="en-US">
                <a:solidFill>
                  <a:schemeClr val="lt1"/>
                </a:solidFill>
              </a:rPr>
              <a:t>(</a:t>
            </a:r>
            <a:r>
              <a:rPr lang="en-US">
                <a:solidFill>
                  <a:srgbClr val="FBBF24"/>
                </a:solidFill>
              </a:rPr>
              <a:t>delta</a:t>
            </a:r>
            <a:r>
              <a:rPr lang="en-US">
                <a:solidFill>
                  <a:schemeClr val="lt1"/>
                </a:solidFill>
              </a:rPr>
              <a:t>);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lang="en-US">
                <a:solidFill>
                  <a:srgbClr val="4ADE80"/>
                </a:solidFill>
              </a:rPr>
              <a:t>updateEntities</a:t>
            </a:r>
            <a:r>
              <a:rPr lang="en-US">
                <a:solidFill>
                  <a:schemeClr val="lt1"/>
                </a:solidFill>
              </a:rPr>
              <a:t>(</a:t>
            </a:r>
            <a:r>
              <a:rPr lang="en-US">
                <a:solidFill>
                  <a:srgbClr val="FBBF24"/>
                </a:solidFill>
              </a:rPr>
              <a:t>delta</a:t>
            </a:r>
            <a:r>
              <a:rPr lang="en-US">
                <a:solidFill>
                  <a:schemeClr val="lt1"/>
                </a:solidFill>
              </a:rPr>
              <a:t>);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lang="en-US">
                <a:solidFill>
                  <a:srgbClr val="4ADE80"/>
                </a:solidFill>
              </a:rPr>
              <a:t>removeDeadEnemies</a:t>
            </a:r>
            <a:r>
              <a:rPr lang="en-US">
                <a:solidFill>
                  <a:schemeClr val="lt1"/>
                </a:solidFill>
              </a:rPr>
              <a:t>();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lang="en-US">
                <a:solidFill>
                  <a:srgbClr val="4ADE80"/>
                </a:solidFill>
              </a:rPr>
              <a:t>checkTurnEnd</a:t>
            </a:r>
            <a:r>
              <a:rPr lang="en-US">
                <a:solidFill>
                  <a:schemeClr val="lt1"/>
                </a:solidFill>
              </a:rPr>
              <a:t>();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}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58454"/>
            <a:ext cx="5143500" cy="3312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58454"/>
            <a:ext cx="5143500" cy="331261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1104900" y="2501354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Регистрация точки сбора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1104900" y="2891879"/>
            <a:ext cx="4457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1104900" y="3053804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Когда координата шара опускается ниже константы FLOOR_Y, срабатывает разветвление логики: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104900" y="3888134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Если этот шар возвращается первым в текущем ходу, то он фиксирует общую координату сбора (nextStartPos) и ждет на месте.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629400" y="2501354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Возврат последующих шаров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6629400" y="2891879"/>
            <a:ext cx="4457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6629400" y="3053804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Все остальные шары, достигающие пола позже, переходят в состояние автоматического притягивания к новой точке.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629400" y="4162425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Это исключает хаотичное застревание снарядов на поле и формирует единую стартовую позицию для следующего залпа.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933450" y="571500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ФИЗИКА ПАДЕНИЯ СНАРЯДОВ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762000" y="571500"/>
            <a:ext cx="47625" cy="438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14908"/>
            <a:ext cx="5143500" cy="4847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414908"/>
            <a:ext cx="5143500" cy="484718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1104900" y="1757808"/>
            <a:ext cx="468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F2F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Шаблонный спавн (из JSON)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1104900" y="2148333"/>
            <a:ext cx="44577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1104900" y="2338833"/>
            <a:ext cx="44577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Метод spawnFromTemplate() срабатывает, когда на вход подан предустановленный сценарий уровня: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629400" y="1757808"/>
            <a:ext cx="468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F2F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Случайный спавн (Random)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6629400" y="2148333"/>
            <a:ext cx="44577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6629400" y="2338833"/>
            <a:ext cx="44577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Метод spawnRandomRow() активируется по умолчанию, если готовый шаблон уровня отсутствует в файлах: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1390650" y="3030289"/>
            <a:ext cx="41721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Парсинг файлов: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Класс TemplateManager десериализует внешние JSON-конфигурации.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390650" y="3658939"/>
            <a:ext cx="4172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Матричная сетка: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Программа проверяет ячейки в массиве GridSlot[][] и спавнит точно указанные объекты.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390650" y="4530476"/>
            <a:ext cx="4172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Строгий баланс: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Конкретные типы блоков, бонусы и пустые ячейки жестко фиксируются в коде уровня.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915150" y="3304579"/>
            <a:ext cx="4172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Перемешивание колонок: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Список свободных мест динамически перемешивается через columns.shuffle().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915150" y="4176117"/>
            <a:ext cx="4172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Вероятностный спавн: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С фиксированным шансом в 30% в первой выбранной колонке генерируется бонус.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915150" y="5047654"/>
            <a:ext cx="4172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Динамическая прочность: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Здоровье блоков на поле рассчитывается по формуле в зависимости от текущего счета игрока.</a:t>
            </a:r>
            <a:endParaRPr/>
          </a:p>
        </p:txBody>
      </p:sp>
      <p:pic>
        <p:nvPicPr>
          <p:cNvPr id="197" name="Google Shape;19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62050" y="3116636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23950" y="375633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3000" y="4607744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77025" y="34051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91312" y="4245452"/>
            <a:ext cx="1238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93797" y="5162876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F2FE"/>
                </a:solidFill>
                <a:latin typeface="Inter"/>
                <a:ea typeface="Inter"/>
                <a:cs typeface="Inter"/>
                <a:sym typeface="Inter"/>
              </a:rPr>
              <a:t>ГЕНЕРАЦИЯ НОВОГО РЯДА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762000" y="571500"/>
            <a:ext cx="38100" cy="4383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01304"/>
            <a:ext cx="3397299" cy="3426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424" y="2101304"/>
            <a:ext cx="3397299" cy="3426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2101304"/>
            <a:ext cx="3397299" cy="342691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1057274" y="2898936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Сетка</a:t>
            </a:r>
            <a:r>
              <a:rPr lang="en-US" sz="1800" b="0" i="0" u="none" strike="noStrike" cap="none" dirty="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7х12 </a:t>
            </a: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единиц</a:t>
            </a:r>
            <a:endParaRPr dirty="0"/>
          </a:p>
        </p:txBody>
      </p:sp>
      <p:sp>
        <p:nvSpPr>
          <p:cNvPr id="214" name="Google Shape;214;p20"/>
          <p:cNvSpPr txBox="1"/>
          <p:nvPr/>
        </p:nvSpPr>
        <p:spPr>
          <a:xfrm>
            <a:off x="1057274" y="3342031"/>
            <a:ext cx="2806749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Виртуальный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экран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строго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зафиксирован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фреймворком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LibGDX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Это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блокирует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случайные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искажения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игровых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пропорций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сворачивании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окон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15" name="Google Shape;215;p20"/>
          <p:cNvSpPr txBox="1"/>
          <p:nvPr/>
        </p:nvSpPr>
        <p:spPr>
          <a:xfrm>
            <a:off x="4692699" y="2903894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Панель</a:t>
            </a:r>
            <a:r>
              <a:rPr lang="en-US" sz="1800" b="0" i="0" u="none" strike="noStrike" cap="none" dirty="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информации</a:t>
            </a:r>
            <a:endParaRPr dirty="0"/>
          </a:p>
        </p:txBody>
      </p:sp>
      <p:sp>
        <p:nvSpPr>
          <p:cNvPr id="216" name="Google Shape;216;p20"/>
          <p:cNvSpPr txBox="1"/>
          <p:nvPr/>
        </p:nvSpPr>
        <p:spPr>
          <a:xfrm>
            <a:off x="4692699" y="3347421"/>
            <a:ext cx="2806749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верхнем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оверлее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постоянно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выводятся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текущий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счет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игровой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сессии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(«Score») и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наилучший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зафиксированный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рекорд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(«Best»).</a:t>
            </a:r>
            <a:endParaRPr dirty="0"/>
          </a:p>
        </p:txBody>
      </p:sp>
      <p:sp>
        <p:nvSpPr>
          <p:cNvPr id="217" name="Google Shape;217;p20"/>
          <p:cNvSpPr txBox="1"/>
          <p:nvPr/>
        </p:nvSpPr>
        <p:spPr>
          <a:xfrm>
            <a:off x="8328124" y="2904729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GameOver</a:t>
            </a:r>
            <a:r>
              <a:rPr lang="en-US" sz="1800" b="0" i="0" u="none" strike="noStrike" cap="none" dirty="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Экран</a:t>
            </a:r>
            <a:endParaRPr dirty="0"/>
          </a:p>
        </p:txBody>
      </p:sp>
      <p:sp>
        <p:nvSpPr>
          <p:cNvPr id="218" name="Google Shape;218;p20"/>
          <p:cNvSpPr txBox="1"/>
          <p:nvPr/>
        </p:nvSpPr>
        <p:spPr>
          <a:xfrm>
            <a:off x="8328124" y="3347421"/>
            <a:ext cx="2806749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пересечении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линии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пола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блоками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активируется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интерфейсный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класс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GameOverGroup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предоставляющий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функции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рестарта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219" name="Google Shape;21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312099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31209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8124" y="231747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933450" y="571500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ИНТЕРФЕЙС ПРИЛОЖЕНИЯ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762000" y="571500"/>
            <a:ext cx="47625" cy="438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75619"/>
            <a:ext cx="5143500" cy="2478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75619"/>
            <a:ext cx="5143500" cy="247828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1104900" y="2918519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Редактор уровней EditorLogic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1104900" y="3309044"/>
            <a:ext cx="4457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1104900" y="3470969"/>
            <a:ext cx="44577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Вспомогательный режим разработки позволяет вручную выстраивать блоки на интерактивной сетке и сериализовать кастомные уровни в JSON через модуль TemplateManager.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629400" y="2918519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Автоигра AIPredictor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6629400" y="3309044"/>
            <a:ext cx="4457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6629400" y="3470969"/>
            <a:ext cx="44577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Встроенный бот симулирует виртуальные выстрелы в широком диапазоне углов, анализирует потенциальные отскоки и коллизии, выбирая оптимальный вектор максимального урона.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933450" y="571500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РЕДАКТОР И ИСКУССТВЕННЫЙ ИНТЕЛЛЕКТ</a:t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762000" y="571500"/>
            <a:ext cx="47625" cy="438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45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24125"/>
            <a:ext cx="4267200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1057275" y="3009900"/>
            <a:ext cx="36766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0" b="1" i="0" u="none" strike="noStrike" cap="none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</a:t>
            </a:r>
            <a:endParaRPr dirty="0"/>
          </a:p>
        </p:txBody>
      </p:sp>
      <p:sp>
        <p:nvSpPr>
          <p:cNvPr id="246" name="Google Shape;246;p22"/>
          <p:cNvSpPr txBox="1"/>
          <p:nvPr/>
        </p:nvSpPr>
        <p:spPr>
          <a:xfrm>
            <a:off x="1057275" y="4391025"/>
            <a:ext cx="3676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JUNIT ТЕСТОВ ПРОЙДЕНО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5505450" y="2709862"/>
            <a:ext cx="66865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Стабильность и надежность кода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5505450" y="3100387"/>
            <a:ext cx="64008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Проект снабжен полным комплексом автоматизированных юнит-тестов (JUnit 5 + Mockito), изолирующих бизнес-логику от графики: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5505450" y="3791842"/>
            <a:ext cx="64008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GameControllerTest: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Проверка смены состояний.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5505450" y="4142333"/>
            <a:ext cx="64008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AIPredictorTest: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Проверка точности прогноза бота.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5505450" y="4492823"/>
            <a:ext cx="64008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EnemySquareTest: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Проверка триггера жизни блоков.</a:t>
            </a:r>
            <a:endParaRPr/>
          </a:p>
        </p:txBody>
      </p:sp>
      <p:pic>
        <p:nvPicPr>
          <p:cNvPr id="252" name="Google Shape;25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05450" y="388637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05450" y="42481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05450" y="458613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933450" y="571500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ТЕСТИРОВАНИЕ СИСТЕМЫ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762000" y="571500"/>
            <a:ext cx="47625" cy="438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495300" y="571500"/>
            <a:ext cx="11201400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Вопросы и ответы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762000" y="1590675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Благодарю за внимание! Готов ответить на ваши вопросы.</a:t>
            </a:r>
            <a:endParaRPr/>
          </a:p>
        </p:txBody>
      </p:sp>
      <p:pic>
        <p:nvPicPr>
          <p:cNvPr id="264" name="Google Shape;26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47912" y="251832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10287" y="2518320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</Words>
  <Application>Microsoft Office PowerPoint</Application>
  <PresentationFormat>Широкоэкранный</PresentationFormat>
  <Paragraphs>83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JetBrains Mono</vt:lpstr>
      <vt:lpstr>Arial</vt:lpstr>
      <vt:lpstr>Inter SemiBold</vt:lpstr>
      <vt:lpstr>Calibri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Lumi</cp:lastModifiedBy>
  <cp:revision>2</cp:revision>
  <dcterms:modified xsi:type="dcterms:W3CDTF">2026-05-30T08:24:03Z</dcterms:modified>
</cp:coreProperties>
</file>